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26172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Low Latency and Efficient Voice Activator for Edge Devices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«ENTER THEME»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«ENTER TEAM ID»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«ENTER TEAM NAME»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NOVA — Low-Latency Voice Activator for Edge Devices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Modular 5-stage edge/server pipeline (full diagram on the Technical Approach slide)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Fully offline-capable; FastAPI backend exposes both batch and streaming APIs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Isolates the target speaker from noisy/overlapping speech before recognition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Wake-word gating keeps ASR/interpretation idle until needed, saving power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Pairs speaker separation with an ultra-tiny (6K-param) wake-word CNN sized for &lt;256KB edge RAM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331 automated tests; every unimplemented stage is honestly reported, never faked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4300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Python + FastAPI (REST &amp; streaming APIs)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Conv-TasNet separation + TinyKWSNet KWS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faster-whisper (offline ASR, on-host)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Rule-based interpreter -- 9 intents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Edge target: I2S mic + ESP32-class MCU + Wi-Fi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Server: x86-64 host (implemented &amp; tested)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Pluggable KWS backend; batch &amp; streaming demos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«TEAM NAME»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159600" y="2533653"/>
            <a:ext cx="64228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Arial"/>
              </a:rPr>
              <a:t>End-to-End Pipeline: Edge ⇄ Server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159600" y="2913653"/>
            <a:ext cx="6422800" cy="1150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249600" y="2953653"/>
            <a:ext cx="624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  <a:latin typeface="Arial"/>
              </a:rPr>
              <a:t>EDGE DEVICE  (proposed target hardware)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5159600" y="3233653"/>
            <a:ext cx="1545700" cy="7000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Mic</a:t>
            </a:r>
          </a:p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Input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6785300" y="3233653"/>
            <a:ext cx="1545700" cy="7000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Preprocess</a:t>
            </a:r>
          </a:p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(mono / resample)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8411000" y="3233653"/>
            <a:ext cx="1545700" cy="700000"/>
          </a:xfrm>
          <a:prstGeom prst="chevron">
            <a:avLst/>
          </a:prstGeom>
          <a:solidFill>
            <a:srgbClr val="4F81B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Speaker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Separation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(Conv-TasNet)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10036700" y="3233653"/>
            <a:ext cx="1545700" cy="700000"/>
          </a:xfrm>
          <a:prstGeom prst="chevron">
            <a:avLst/>
          </a:prstGeom>
          <a:solidFill>
            <a:srgbClr val="4F81B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Wake-Word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Detection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(TinyKWSNet)</a:t>
            </a:r>
          </a:p>
        </p:txBody>
      </p:sp>
      <p:sp>
        <p:nvSpPr>
          <p:cNvPr id="17418" name="Down Arrow 17417"/>
          <p:cNvSpPr/>
          <p:nvPr/>
        </p:nvSpPr>
        <p:spPr>
          <a:xfrm>
            <a:off x="8121000" y="4083653"/>
            <a:ext cx="500000" cy="22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661000" y="4073653"/>
            <a:ext cx="29214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1F497D"/>
                </a:solidFill>
                <a:latin typeface="Arial"/>
              </a:rPr>
              <a:t>Wi-Fi / PCM16 audio stream</a:t>
            </a:r>
          </a:p>
          <a:p>
            <a:pPr algn="l"/>
            <a:r>
              <a:rPr sz="750" b="0" i="1">
                <a:solidFill>
                  <a:srgbClr val="1F497D"/>
                </a:solidFill>
                <a:latin typeface="Arial"/>
              </a:rPr>
              <a:t>(wire format already implemented &amp; tested)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159600" y="4343653"/>
            <a:ext cx="6422800" cy="11500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249600" y="4383653"/>
            <a:ext cx="624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  <a:latin typeface="Arial"/>
              </a:rPr>
              <a:t>SERVER / HOST  (implemented, FastAPI)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5159600" y="4663653"/>
            <a:ext cx="2087600" cy="700000"/>
          </a:xfrm>
          <a:prstGeom prst="chevron">
            <a:avLst/>
          </a:prstGeom>
          <a:solidFill>
            <a:srgbClr val="4F81B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ASR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(faster-whisper)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7327200" y="4663653"/>
            <a:ext cx="2087600" cy="7000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Command</a:t>
            </a:r>
          </a:p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Interpreter</a:t>
            </a:r>
          </a:p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(rule-based)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9494800" y="4663653"/>
            <a:ext cx="2087600" cy="7000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Action /</a:t>
            </a:r>
          </a:p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Device Control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5159600" y="5563653"/>
            <a:ext cx="150000" cy="150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369600" y="5533653"/>
            <a:ext cx="1700000" cy="2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F497D"/>
                </a:solidFill>
                <a:latin typeface="Arial"/>
              </a:rPr>
              <a:t>AI / ML model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7159600" y="5563653"/>
            <a:ext cx="150000" cy="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369600" y="5533653"/>
            <a:ext cx="2200000" cy="2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F497D"/>
                </a:solidFill>
                <a:latin typeface="Arial"/>
              </a:rPr>
              <a:t>Rule-based / I-O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4300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331/331 automated tests passing today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KWS exports cleanly to TFLite (FP32 &amp; INT8)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No NOVA data yet; detector untrained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No on-device validation; model untuned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Data-collection pipeline built (see right)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Modular interfaces + staged hardware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159600" y="2533653"/>
            <a:ext cx="642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System Resource Requirements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5159600" y="2793653"/>
          <a:ext cx="6422800" cy="1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016"/>
                <a:gridCol w="2569120"/>
                <a:gridCol w="2440664"/>
              </a:tblGrid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36000" marR="36000" marT="9000" marB="900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Measured (dev laptop)</a:t>
                      </a:r>
                    </a:p>
                  </a:txBody>
                  <a:tcPr marL="36000" marR="36000" marT="9000" marB="900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Edge Target</a:t>
                      </a:r>
                    </a:p>
                  </a:txBody>
                  <a:tcPr marL="36000" marR="36000" marT="9000" marB="9000" anchor="ctr">
                    <a:solidFill>
                      <a:srgbClr val="1F497D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Separation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(Conv-TasNet)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4.98M params, 19.1MB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0.10-0.28s/req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yet benchmarked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on-device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Wake-Word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(TinyKWSNet)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6,018 params, 11.6KB INT8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0.1-0.9ms/inference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Est. ~110KB / 256KB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budget (57% headroom)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ASR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(faster-whisper)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260-280ms/utterance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(~2.3s warm-up once)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Runs on host,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on MCU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CPU (KWS,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continuous)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115-331% of 12 cores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(not edge-comparable)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Goal: &lt;10% CPU idle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(not measurable on real HW)</a:t>
                      </a:r>
                    </a:p>
                  </a:txBody>
                  <a:tcPr marL="36000" marR="36000" marT="9000" marB="9000" anchor="ctr"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5159600" y="4373653"/>
            <a:ext cx="642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1F497D"/>
                </a:solidFill>
                <a:latin typeface="Arial"/>
              </a:rPr>
              <a:t>Measured on a 12-core x86-64 laptop (Windows, Python 3.11, CPU-only). “Edge Target” = estimate/goal, not an on-device measurement.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159600" y="4633653"/>
            <a:ext cx="642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NOVA Wake-Word Data Collection Workflow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5159600" y="4893653"/>
            <a:ext cx="1264560" cy="480000"/>
          </a:xfrm>
          <a:prstGeom prst="chevron">
            <a:avLst/>
          </a:prstGeom>
          <a:solidFill>
            <a:srgbClr val="4BACC6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Record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“NOVA”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(1.0s)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44160" y="4893653"/>
            <a:ext cx="94342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1F497D"/>
                </a:solidFill>
                <a:latin typeface="Arial"/>
              </a:rPr>
              <a:t>5s</a:t>
            </a:r>
          </a:p>
          <a:p>
            <a:pPr algn="ctr"/>
            <a:r>
              <a:rPr sz="750" b="1" i="0">
                <a:solidFill>
                  <a:srgbClr val="1F497D"/>
                </a:solidFill>
                <a:latin typeface="Arial"/>
              </a:rPr>
              <a:t>countdown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7407580" y="4893653"/>
            <a:ext cx="1264560" cy="480000"/>
          </a:xfrm>
          <a:prstGeom prst="chevron">
            <a:avLst/>
          </a:prstGeom>
          <a:solidFill>
            <a:srgbClr val="4BACC6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Record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“NOVA”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(1.0s)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692140" y="4893653"/>
            <a:ext cx="94342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1F497D"/>
                </a:solidFill>
                <a:latin typeface="Arial"/>
              </a:rPr>
              <a:t>5s</a:t>
            </a:r>
          </a:p>
          <a:p>
            <a:pPr algn="ctr"/>
            <a:r>
              <a:rPr sz="750" b="1" i="0">
                <a:solidFill>
                  <a:srgbClr val="1F497D"/>
                </a:solidFill>
                <a:latin typeface="Arial"/>
              </a:rPr>
              <a:t>countdown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9655560" y="4893653"/>
            <a:ext cx="1906840" cy="480000"/>
          </a:xfrm>
          <a:prstGeom prst="chevron">
            <a:avLst/>
          </a:prstGeom>
          <a:solidFill>
            <a:srgbClr val="4BACC6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... × 30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clips total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159600" y="5413653"/>
            <a:ext cx="64228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1F497D"/>
                </a:solidFill>
                <a:latin typeface="Arial"/>
              </a:rPr>
              <a:t>Negative set recorded separately: 20 distractor words + silence, ~1.2s pause between clips.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Reliable hands-free voice control in noisy, multi-speaker environments (homes, vehicles, kiosks)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Directly supports accessibility — hands-free control for elderly and differently-abled users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Social: safer, inclusive interaction; privacy-first — audio never leaves the device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Economic: ultra-low-footprint KWS (&lt;12 KB) enables cheap MCUs, not costly cloud hardware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Technical: modular, test-driven architecture (331 tests) de-risks future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Luo &amp; Mesgarani, “Conv-TasNet: Surpassing Ideal Time-Frequency Magnitude Masking for Speech Separation” (2019)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torchaudio pretrained bundle: CONVTASNET_BASE_LIBRI2MIX (LibriMix dataset)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faster-whisper — CTranslate2-optimized Whisper inference engine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TensorFlow Lite Micro — target runtime for on-device TinyKWSNet deployment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openWakeWord — evaluated as an alternate open-source wake-word backend</a:t>
            </a:r>
          </a:p>
          <a:p>
            <a:pPr marL="742950" indent="-285750" algn="l">
              <a:buFont typeface="Arial" panose="020B0604020202020204" pitchFamily="34" charset="0"/>
              <a:buChar char="–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Project engineering reports: docs/STAGE_1_REPORT.md, STAGE_2_EDGE_BENCHMARK.md, STAGE_3_STREAMING.md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«TEAM NAME»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